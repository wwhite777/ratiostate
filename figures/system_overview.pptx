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0" cy="9875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2140"/>
            <a:ext cx="9655139" cy="41641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76" b="1">
                <a:solidFill>
                  <a:srgbClr val="182F45"/>
                </a:solidFill>
                <a:latin typeface="DejaVu Sans"/>
              </a:rPr>
              <a:t>RatioState  |  recurrent storage-precision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98017"/>
            <a:ext cx="7193191" cy="264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2" b="0">
                <a:solidFill>
                  <a:srgbClr val="526579"/>
                </a:solidFill>
                <a:latin typeface="DejaVu Sans"/>
              </a:rPr>
              <a:t>One unchanged model; six ways to retain its state between pixel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" y="1014984"/>
            <a:ext cx="10405872" cy="4855464"/>
          </a:xfrm>
          <a:prstGeom prst="roundRect">
            <a:avLst>
              <a:gd name="adj" fmla="val 3389"/>
            </a:avLst>
          </a:prstGeom>
          <a:solidFill>
            <a:srgbClr val="F4F8FA"/>
          </a:solidFill>
          <a:ln w="13716">
            <a:solidFill>
              <a:srgbClr val="D8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1119225"/>
            <a:ext cx="302924" cy="328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2C6383"/>
                </a:solidFill>
                <a:latin typeface="DejaVu San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124712"/>
            <a:ext cx="5789109" cy="3154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82F45"/>
                </a:solidFill>
                <a:latin typeface="DejaVu Sans"/>
              </a:rPr>
              <a:t>Teacher-forced call and storage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6898" y="1161288"/>
            <a:ext cx="1148701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39" b="0">
                <a:solidFill>
                  <a:srgbClr val="526579"/>
                </a:solidFill>
                <a:latin typeface="DejaVu Sans"/>
              </a:rPr>
              <a:t>t = 0…782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911095"/>
            <a:ext cx="2020824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8288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911095"/>
            <a:ext cx="64008" cy="1417320"/>
          </a:xfrm>
          <a:prstGeom prst="rect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90318"/>
            <a:ext cx="736539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2C6383"/>
                </a:solidFill>
                <a:latin typeface="DejaVu San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82926"/>
            <a:ext cx="1966997" cy="302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28" b="1">
                <a:solidFill>
                  <a:srgbClr val="182F45"/>
                </a:solidFill>
                <a:latin typeface="DejaVu Sans"/>
              </a:rPr>
              <a:t>MNIST pixel xₜ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19425"/>
            <a:ext cx="1051498" cy="264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2" b="0">
                <a:solidFill>
                  <a:srgbClr val="182F45"/>
                </a:solidFill>
                <a:latin typeface="DejaVu Sans"/>
              </a:rPr>
              <a:t>position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32150"/>
            <a:ext cx="1962815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526579"/>
                </a:solidFill>
                <a:latin typeface="DejaVu Sans"/>
              </a:rPr>
              <a:t>integer pixel 0…255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1572768"/>
            <a:ext cx="4142232" cy="2441448"/>
          </a:xfrm>
          <a:prstGeom prst="roundRect">
            <a:avLst>
              <a:gd name="adj" fmla="val 5243"/>
            </a:avLst>
          </a:prstGeom>
          <a:solidFill>
            <a:srgbClr val="FFFFFF"/>
          </a:solidFill>
          <a:ln w="22859">
            <a:solidFill>
              <a:srgbClr val="92B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62656" y="1572768"/>
            <a:ext cx="4142232" cy="475488"/>
          </a:xfrm>
          <a:prstGeom prst="roundRect">
            <a:avLst>
              <a:gd name="adj" fmla="val 25000"/>
            </a:avLst>
          </a:prstGeom>
          <a:solidFill>
            <a:srgbClr val="EC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2968" y="1697126"/>
            <a:ext cx="4210077" cy="302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28" b="1">
                <a:solidFill>
                  <a:srgbClr val="2C6383"/>
                </a:solidFill>
                <a:latin typeface="DejaVu Sans"/>
              </a:rPr>
              <a:t>UNCHANGED FP32 MODEL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130552"/>
            <a:ext cx="2489025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9" b="0">
                <a:solidFill>
                  <a:srgbClr val="526579"/>
                </a:solidFill>
                <a:latin typeface="DejaVu Sans"/>
              </a:rPr>
              <a:t>8 layers  ·  8 heads/layer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2379268"/>
            <a:ext cx="3669785" cy="2271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96" b="0">
                <a:solidFill>
                  <a:srgbClr val="526579"/>
                </a:solidFill>
                <a:latin typeface="DejaVu Sans"/>
              </a:rPr>
              <a:t>Per attention head: Ŝ, ẑ = decoded feeds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63824" y="2624328"/>
            <a:ext cx="3739896" cy="0"/>
          </a:xfrm>
          <a:prstGeom prst="line">
            <a:avLst/>
          </a:prstGeom>
          <a:ln w="9144">
            <a:solidFill>
              <a:srgbClr val="D8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72968" y="2761488"/>
            <a:ext cx="2077669" cy="3154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82F45"/>
                </a:solidFill>
                <a:latin typeface="DejaVu Sans"/>
              </a:rPr>
              <a:t>Sₜ = Ŝₜ₋₁ + kₜ vₜᵀ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3072384"/>
            <a:ext cx="1643435" cy="3154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82F45"/>
                </a:solidFill>
                <a:latin typeface="DejaVu Sans"/>
              </a:rPr>
              <a:t>zₜ = ẑₜ₋₁ + kₜ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3434486"/>
            <a:ext cx="2856871" cy="3028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28" b="0">
                <a:solidFill>
                  <a:srgbClr val="182F45"/>
                </a:solidFill>
                <a:latin typeface="DejaVu Sans"/>
              </a:rPr>
              <a:t>yₜ = (qₜᵀ Sₜ) / (qₜᵀ zₜ + 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3745382"/>
            <a:ext cx="3821604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117F7C"/>
                </a:solidFill>
                <a:latin typeface="DejaVu Sans"/>
              </a:rPr>
              <a:t>Readout uses raw updated Sₜ and zₜ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6952" y="1911095"/>
            <a:ext cx="2907792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8288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16952" y="1911095"/>
            <a:ext cx="64008" cy="1417320"/>
          </a:xfrm>
          <a:prstGeom prst="rect">
            <a:avLst/>
          </a:prstGeom>
          <a:solidFill>
            <a:srgbClr val="11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090318"/>
            <a:ext cx="1361746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117F7C"/>
                </a:solidFill>
                <a:latin typeface="DejaVu Sans"/>
              </a:rPr>
              <a:t>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388412"/>
            <a:ext cx="2631346" cy="2902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55" b="1">
                <a:solidFill>
                  <a:srgbClr val="182F45"/>
                </a:solidFill>
                <a:latin typeface="DejaVu Sans"/>
              </a:rPr>
              <a:t>30 FP32 parameters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730398"/>
            <a:ext cx="2295594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526579"/>
                </a:solidFill>
                <a:latin typeface="DejaVu Sans"/>
              </a:rPr>
              <a:t>10 mixture components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026664"/>
            <a:ext cx="1794626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9" b="0">
                <a:solidFill>
                  <a:srgbClr val="182F45"/>
                </a:solidFill>
                <a:latin typeface="DejaVu Sans"/>
              </a:rPr>
              <a:t>for next pixel xₜ₊₁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59736" y="2615184"/>
            <a:ext cx="502920" cy="0"/>
          </a:xfrm>
          <a:prstGeom prst="line">
            <a:avLst/>
          </a:prstGeom>
          <a:ln w="29260">
            <a:solidFill>
              <a:srgbClr val="2C6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2862072" y="2559862"/>
            <a:ext cx="100584" cy="110642"/>
          </a:xfrm>
          <a:prstGeom prst="triangle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104888" y="2615184"/>
            <a:ext cx="512064" cy="0"/>
          </a:xfrm>
          <a:prstGeom prst="line">
            <a:avLst/>
          </a:prstGeom>
          <a:ln w="29260">
            <a:solidFill>
              <a:srgbClr val="117F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7516368" y="2559862"/>
            <a:ext cx="100584" cy="110642"/>
          </a:xfrm>
          <a:prstGeom prst="triangle">
            <a:avLst/>
          </a:prstGeom>
          <a:solidFill>
            <a:srgbClr val="11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962656" y="4425696"/>
            <a:ext cx="1965960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6459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4559198"/>
            <a:ext cx="1486895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2C6383"/>
                </a:solidFill>
                <a:latin typeface="DejaVu Sans"/>
              </a:rPr>
              <a:t>RAW RETURN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36392" y="4837176"/>
            <a:ext cx="1613759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9" b="0">
                <a:solidFill>
                  <a:srgbClr val="182F45"/>
                </a:solidFill>
                <a:latin typeface="DejaVu Sans"/>
              </a:rPr>
              <a:t>Sₜ, zₜ after call 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21224" y="4425696"/>
            <a:ext cx="2176272" cy="722376"/>
          </a:xfrm>
          <a:prstGeom prst="roundRect">
            <a:avLst>
              <a:gd name="adj" fmla="val 12658"/>
            </a:avLst>
          </a:prstGeom>
          <a:solidFill>
            <a:srgbClr val="FBF3EC"/>
          </a:solidFill>
          <a:ln w="16459">
            <a:solidFill>
              <a:srgbClr val="DBA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4559198"/>
            <a:ext cx="2122881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B96935"/>
                </a:solidFill>
                <a:latin typeface="DejaVu Sans"/>
              </a:rPr>
              <a:t>STORAGE ENCODER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837176"/>
            <a:ext cx="1955896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9" b="0">
                <a:solidFill>
                  <a:srgbClr val="182F45"/>
                </a:solidFill>
                <a:latin typeface="DejaVu Sans"/>
              </a:rPr>
              <a:t>select S / z formats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99248" y="4425696"/>
            <a:ext cx="2825496" cy="722376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6459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72983" y="4559198"/>
            <a:ext cx="1886746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B96935"/>
                </a:solidFill>
                <a:latin typeface="DejaVu Sans"/>
              </a:rPr>
              <a:t>RETAINED CACHE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72983" y="4837176"/>
            <a:ext cx="2659484" cy="2523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9" b="0">
                <a:solidFill>
                  <a:srgbClr val="182F45"/>
                </a:solidFill>
                <a:latin typeface="DejaVu Sans"/>
              </a:rPr>
              <a:t>encoded Sₜ, zₜ for next call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41064" y="4014215"/>
            <a:ext cx="0" cy="411481"/>
          </a:xfrm>
          <a:prstGeom prst="line">
            <a:avLst/>
          </a:prstGeom>
          <a:ln w="22859">
            <a:solidFill>
              <a:srgbClr val="2C6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10800000">
            <a:off x="3895801" y="4343400"/>
            <a:ext cx="90525" cy="82296"/>
          </a:xfrm>
          <a:prstGeom prst="triangle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928616" y="4782312"/>
            <a:ext cx="292608" cy="0"/>
          </a:xfrm>
          <a:prstGeom prst="line">
            <a:avLst/>
          </a:prstGeom>
          <a:ln w="22859">
            <a:solidFill>
              <a:srgbClr val="B96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5138928" y="4737049"/>
            <a:ext cx="82296" cy="90525"/>
          </a:xfrm>
          <a:prstGeom prst="triangle">
            <a:avLst/>
          </a:prstGeom>
          <a:solidFill>
            <a:srgbClr val="B96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7397496" y="4782312"/>
            <a:ext cx="301752" cy="0"/>
          </a:xfrm>
          <a:prstGeom prst="line">
            <a:avLst/>
          </a:prstGeom>
          <a:ln w="22859">
            <a:solidFill>
              <a:srgbClr val="B96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/>
          <p:cNvSpPr/>
          <p:nvPr/>
        </p:nvSpPr>
        <p:spPr>
          <a:xfrm rot="5400000">
            <a:off x="7616952" y="4737049"/>
            <a:ext cx="82296" cy="90525"/>
          </a:xfrm>
          <a:prstGeom prst="triangle">
            <a:avLst/>
          </a:prstGeom>
          <a:solidFill>
            <a:srgbClr val="B96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116568" y="5148072"/>
            <a:ext cx="0" cy="411480"/>
          </a:xfrm>
          <a:prstGeom prst="line">
            <a:avLst/>
          </a:prstGeom>
          <a:ln w="23774">
            <a:solidFill>
              <a:srgbClr val="B96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697480" y="5559552"/>
            <a:ext cx="6419088" cy="0"/>
          </a:xfrm>
          <a:prstGeom prst="line">
            <a:avLst/>
          </a:prstGeom>
          <a:ln w="23774">
            <a:solidFill>
              <a:srgbClr val="B96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697480" y="3547872"/>
            <a:ext cx="0" cy="2011680"/>
          </a:xfrm>
          <a:prstGeom prst="line">
            <a:avLst/>
          </a:prstGeom>
          <a:ln w="23774">
            <a:solidFill>
              <a:srgbClr val="B96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697480" y="3547872"/>
            <a:ext cx="265176" cy="0"/>
          </a:xfrm>
          <a:prstGeom prst="line">
            <a:avLst/>
          </a:prstGeom>
          <a:ln w="23774">
            <a:solidFill>
              <a:srgbClr val="B96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5400000">
            <a:off x="2871216" y="3497580"/>
            <a:ext cx="91440" cy="100584"/>
          </a:xfrm>
          <a:prstGeom prst="triangle">
            <a:avLst/>
          </a:prstGeom>
          <a:solidFill>
            <a:srgbClr val="B96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22776" y="5385816"/>
            <a:ext cx="3959352" cy="292608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45970" y="5427878"/>
            <a:ext cx="3903819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1">
                <a:solidFill>
                  <a:srgbClr val="B96935"/>
                </a:solidFill>
                <a:latin typeface="DejaVu Sans"/>
              </a:rPr>
              <a:t>decode / expand to FP32 at call t + 1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" y="6084417"/>
            <a:ext cx="299998" cy="328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2C6383"/>
                </a:solidFill>
                <a:latin typeface="DejaVu Sans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089904"/>
            <a:ext cx="3686620" cy="3154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82F45"/>
                </a:solidFill>
                <a:latin typeface="DejaVu Sans"/>
              </a:rPr>
              <a:t>Six retained-state formats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" y="6433718"/>
            <a:ext cx="4446545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2C6383"/>
                </a:solidFill>
                <a:latin typeface="DejaVu Sans"/>
              </a:rPr>
              <a:t>CROSSED MATRIX / NORMALIZER CHOICES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8624" y="6433718"/>
            <a:ext cx="2551859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B96935"/>
                </a:solidFill>
                <a:latin typeface="DejaVu Sans"/>
              </a:rPr>
              <a:t>ADDITIONAL CONTROLS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93192" y="6684264"/>
            <a:ext cx="1591056" cy="1234440"/>
          </a:xfrm>
          <a:prstGeom prst="roundRect">
            <a:avLst>
              <a:gd name="adj" fmla="val 7407"/>
            </a:avLst>
          </a:prstGeom>
          <a:solidFill>
            <a:srgbClr val="ECF4F8"/>
          </a:solidFill>
          <a:ln w="13716"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3192" y="6684264"/>
            <a:ext cx="1591056" cy="54864"/>
          </a:xfrm>
          <a:prstGeom prst="rect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6907377"/>
            <a:ext cx="675814" cy="264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2" b="1">
                <a:solidFill>
                  <a:srgbClr val="182F45"/>
                </a:solidFill>
                <a:latin typeface="DejaVu Sans"/>
              </a:rPr>
              <a:t>FP32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12064" y="7178040"/>
            <a:ext cx="1353312" cy="0"/>
          </a:xfrm>
          <a:prstGeom prst="line">
            <a:avLst/>
          </a:prstGeom>
          <a:ln w="9144">
            <a:solidFill>
              <a:srgbClr val="C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12064" y="7338974"/>
            <a:ext cx="792032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S: FP32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" y="7613294"/>
            <a:ext cx="771990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z: FP32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12264" y="6684264"/>
            <a:ext cx="1591056" cy="1234440"/>
          </a:xfrm>
          <a:prstGeom prst="roundRect">
            <a:avLst>
              <a:gd name="adj" fmla="val 7407"/>
            </a:avLst>
          </a:prstGeom>
          <a:solidFill>
            <a:srgbClr val="ECF4F8"/>
          </a:solidFill>
          <a:ln w="13716"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12264" y="6684264"/>
            <a:ext cx="1591056" cy="54864"/>
          </a:xfrm>
          <a:prstGeom prst="rect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31136" y="6907377"/>
            <a:ext cx="910617" cy="264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2" b="1">
                <a:solidFill>
                  <a:srgbClr val="182F45"/>
                </a:solidFill>
                <a:latin typeface="DejaVu Sans"/>
              </a:rPr>
              <a:t>S-BF16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231136" y="7178040"/>
            <a:ext cx="1353312" cy="0"/>
          </a:xfrm>
          <a:prstGeom prst="line">
            <a:avLst/>
          </a:prstGeom>
          <a:ln w="9144">
            <a:solidFill>
              <a:srgbClr val="C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231136" y="7338974"/>
            <a:ext cx="807174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S: BF16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31136" y="7613294"/>
            <a:ext cx="771990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z: FP32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31336" y="6684264"/>
            <a:ext cx="1591056" cy="1234440"/>
          </a:xfrm>
          <a:prstGeom prst="roundRect">
            <a:avLst>
              <a:gd name="adj" fmla="val 7407"/>
            </a:avLst>
          </a:prstGeom>
          <a:solidFill>
            <a:srgbClr val="EDF7F4"/>
          </a:solidFill>
          <a:ln w="13716"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831336" y="6684264"/>
            <a:ext cx="1591056" cy="54864"/>
          </a:xfrm>
          <a:prstGeom prst="rect">
            <a:avLst/>
          </a:prstGeom>
          <a:solidFill>
            <a:srgbClr val="11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50208" y="6907377"/>
            <a:ext cx="882755" cy="264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2" b="1">
                <a:solidFill>
                  <a:srgbClr val="182F45"/>
                </a:solidFill>
                <a:latin typeface="DejaVu Sans"/>
              </a:rPr>
              <a:t>z-BF16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3950208" y="7178040"/>
            <a:ext cx="1353312" cy="0"/>
          </a:xfrm>
          <a:prstGeom prst="line">
            <a:avLst/>
          </a:prstGeom>
          <a:ln w="9144">
            <a:solidFill>
              <a:srgbClr val="C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950208" y="7338974"/>
            <a:ext cx="792032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S: FP32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50208" y="7613294"/>
            <a:ext cx="787132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z: BF16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550408" y="6684264"/>
            <a:ext cx="1591056" cy="1234440"/>
          </a:xfrm>
          <a:prstGeom prst="roundRect">
            <a:avLst>
              <a:gd name="adj" fmla="val 7407"/>
            </a:avLst>
          </a:prstGeom>
          <a:solidFill>
            <a:srgbClr val="EDF7F4"/>
          </a:solidFill>
          <a:ln w="13716"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550408" y="6684264"/>
            <a:ext cx="1591056" cy="54864"/>
          </a:xfrm>
          <a:prstGeom prst="rect">
            <a:avLst/>
          </a:prstGeom>
          <a:solidFill>
            <a:srgbClr val="117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0" y="6907377"/>
            <a:ext cx="1274487" cy="264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2" b="1">
                <a:solidFill>
                  <a:srgbClr val="182F45"/>
                </a:solidFill>
                <a:latin typeface="DejaVu Sans"/>
              </a:rPr>
              <a:t>Joint BF16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5669280" y="7178040"/>
            <a:ext cx="1353312" cy="0"/>
          </a:xfrm>
          <a:prstGeom prst="line">
            <a:avLst/>
          </a:prstGeom>
          <a:ln w="9144">
            <a:solidFill>
              <a:srgbClr val="C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669280" y="7338974"/>
            <a:ext cx="807174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S: BF16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7613294"/>
            <a:ext cx="787132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z: BF16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69480" y="6684264"/>
            <a:ext cx="1591056" cy="1234440"/>
          </a:xfrm>
          <a:prstGeom prst="roundRect">
            <a:avLst>
              <a:gd name="adj" fmla="val 7407"/>
            </a:avLst>
          </a:prstGeom>
          <a:solidFill>
            <a:srgbClr val="FBF3EC"/>
          </a:solidFill>
          <a:ln w="13716"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269480" y="6684264"/>
            <a:ext cx="1591056" cy="54864"/>
          </a:xfrm>
          <a:prstGeom prst="rect">
            <a:avLst/>
          </a:prstGeom>
          <a:solidFill>
            <a:srgbClr val="B96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88352" y="6907377"/>
            <a:ext cx="675814" cy="264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12" b="1">
                <a:solidFill>
                  <a:srgbClr val="182F45"/>
                </a:solidFill>
                <a:latin typeface="DejaVu Sans"/>
              </a:rPr>
              <a:t>FP16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388352" y="7178040"/>
            <a:ext cx="1353312" cy="0"/>
          </a:xfrm>
          <a:prstGeom prst="line">
            <a:avLst/>
          </a:prstGeom>
          <a:ln w="9144">
            <a:solidFill>
              <a:srgbClr val="C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388352" y="7338974"/>
            <a:ext cx="792032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S: FP16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88352" y="7613294"/>
            <a:ext cx="771990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182F45"/>
                </a:solidFill>
                <a:latin typeface="DejaVu Sans"/>
              </a:rPr>
              <a:t>z: FP16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988552" y="6684264"/>
            <a:ext cx="1591056" cy="1234440"/>
          </a:xfrm>
          <a:prstGeom prst="roundRect">
            <a:avLst>
              <a:gd name="adj" fmla="val 7407"/>
            </a:avLst>
          </a:prstGeom>
          <a:solidFill>
            <a:srgbClr val="FBF3EC"/>
          </a:solidFill>
          <a:ln w="13716">
            <a:solidFill>
              <a:srgbClr val="C9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988552" y="6684264"/>
            <a:ext cx="1591056" cy="54864"/>
          </a:xfrm>
          <a:prstGeom prst="rect">
            <a:avLst/>
          </a:prstGeom>
          <a:solidFill>
            <a:srgbClr val="B96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07424" y="6808622"/>
            <a:ext cx="1118130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182F45"/>
                </a:solidFill>
                <a:latin typeface="DejaVu Sans"/>
              </a:rPr>
              <a:t>Two-word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07424" y="7000646"/>
            <a:ext cx="627245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1">
                <a:solidFill>
                  <a:srgbClr val="182F45"/>
                </a:solidFill>
                <a:latin typeface="DejaVu Sans"/>
              </a:rPr>
              <a:t>BF16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9107424" y="7278624"/>
            <a:ext cx="1353312" cy="0"/>
          </a:xfrm>
          <a:prstGeom prst="line">
            <a:avLst/>
          </a:prstGeom>
          <a:ln w="9144">
            <a:solidFill>
              <a:srgbClr val="C5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9107424" y="7399324"/>
            <a:ext cx="1160074" cy="2271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96" b="0">
                <a:solidFill>
                  <a:srgbClr val="182F45"/>
                </a:solidFill>
                <a:latin typeface="DejaVu Sans"/>
              </a:rPr>
              <a:t>S: BF16 pair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07424" y="7627924"/>
            <a:ext cx="1141088" cy="2271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96" b="0">
                <a:solidFill>
                  <a:srgbClr val="182F45"/>
                </a:solidFill>
                <a:latin typeface="DejaVu Sans"/>
              </a:rPr>
              <a:t>z: BF16 pair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2336" y="8024774"/>
            <a:ext cx="7383748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526579"/>
                </a:solidFill>
                <a:latin typeface="DejaVu Sans"/>
              </a:rPr>
              <a:t>The intervention is applied to every layer and head only after each current call.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84048" y="8321040"/>
            <a:ext cx="10204704" cy="0"/>
          </a:xfrm>
          <a:prstGeom prst="line">
            <a:avLst/>
          </a:prstGeom>
          <a:ln w="13716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93192" y="8452713"/>
            <a:ext cx="292929" cy="3280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2C6383"/>
                </a:solidFill>
                <a:latin typeface="DejaVu Sans"/>
              </a:rPr>
              <a:t>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" y="8458200"/>
            <a:ext cx="4142185" cy="3154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82F45"/>
                </a:solidFill>
                <a:latin typeface="DejaVu Sans"/>
              </a:rPr>
              <a:t>Evaluation and saved outputs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93192" y="8887968"/>
            <a:ext cx="1700784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3716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6905" y="8975750"/>
            <a:ext cx="1773356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1">
                <a:solidFill>
                  <a:srgbClr val="182F45"/>
                </a:solidFill>
                <a:latin typeface="DejaVu Sans"/>
              </a:rPr>
              <a:t>10 development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7098" y="9176918"/>
            <a:ext cx="772970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0">
                <a:solidFill>
                  <a:srgbClr val="526579"/>
                </a:solidFill>
                <a:latin typeface="DejaVu Sans"/>
              </a:rPr>
              <a:t>images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377440" y="8887968"/>
            <a:ext cx="18288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3716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585892" y="8975750"/>
            <a:ext cx="1411895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1">
                <a:solidFill>
                  <a:srgbClr val="182F45"/>
                </a:solidFill>
                <a:latin typeface="DejaVu Sans"/>
              </a:rPr>
              <a:t>Lock six-arm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04404" y="9176918"/>
            <a:ext cx="1174870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0">
                <a:solidFill>
                  <a:srgbClr val="526579"/>
                </a:solidFill>
                <a:latin typeface="DejaVu Sans"/>
              </a:rPr>
              <a:t>comparison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489704" y="8887968"/>
            <a:ext cx="181051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3716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96835" y="8975750"/>
            <a:ext cx="1196248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1">
                <a:solidFill>
                  <a:srgbClr val="182F45"/>
                </a:solidFill>
                <a:latin typeface="DejaVu Sans"/>
              </a:rPr>
              <a:t>32 disjoint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499730" y="9176918"/>
            <a:ext cx="1790458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0">
                <a:solidFill>
                  <a:srgbClr val="526579"/>
                </a:solidFill>
                <a:latin typeface="DejaVu Sans"/>
              </a:rPr>
              <a:t>evaluation images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583680" y="8887968"/>
            <a:ext cx="1801368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3716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27837" y="8975750"/>
            <a:ext cx="1713053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1">
                <a:solidFill>
                  <a:srgbClr val="182F45"/>
                </a:solidFill>
                <a:latin typeface="DejaVu Sans"/>
              </a:rPr>
              <a:t>783 predictions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64891" y="9176918"/>
            <a:ext cx="1038944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0">
                <a:solidFill>
                  <a:srgbClr val="526579"/>
                </a:solidFill>
                <a:latin typeface="DejaVu Sans"/>
              </a:rPr>
              <a:t>per image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668512" y="8887968"/>
            <a:ext cx="192024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3716">
            <a:solidFill>
              <a:srgbClr val="B6C6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819537" y="8975750"/>
            <a:ext cx="1618189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1">
                <a:solidFill>
                  <a:srgbClr val="182F45"/>
                </a:solidFill>
                <a:latin typeface="DejaVu Sans"/>
              </a:rPr>
              <a:t>Separate FP64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794730" y="9176918"/>
            <a:ext cx="1667803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68" b="0">
                <a:solidFill>
                  <a:srgbClr val="526579"/>
                </a:solidFill>
                <a:latin typeface="DejaVu Sans"/>
              </a:rPr>
              <a:t>conditional score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130552" y="9144000"/>
            <a:ext cx="210312" cy="0"/>
          </a:xfrm>
          <a:prstGeom prst="line">
            <a:avLst/>
          </a:prstGeom>
          <a:ln w="18288">
            <a:solidFill>
              <a:srgbClr val="2C6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5400000">
            <a:off x="2276856" y="9108795"/>
            <a:ext cx="64008" cy="70408"/>
          </a:xfrm>
          <a:prstGeom prst="triangle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242816" y="9144000"/>
            <a:ext cx="210312" cy="0"/>
          </a:xfrm>
          <a:prstGeom prst="line">
            <a:avLst/>
          </a:prstGeom>
          <a:ln w="18288">
            <a:solidFill>
              <a:srgbClr val="2C6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4389120" y="9108795"/>
            <a:ext cx="64008" cy="70408"/>
          </a:xfrm>
          <a:prstGeom prst="triangle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6336792" y="9144000"/>
            <a:ext cx="210312" cy="0"/>
          </a:xfrm>
          <a:prstGeom prst="line">
            <a:avLst/>
          </a:prstGeom>
          <a:ln w="18288">
            <a:solidFill>
              <a:srgbClr val="2C6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 rot="5400000">
            <a:off x="6483096" y="9108795"/>
            <a:ext cx="64008" cy="70408"/>
          </a:xfrm>
          <a:prstGeom prst="triangle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8421624" y="9144000"/>
            <a:ext cx="210312" cy="0"/>
          </a:xfrm>
          <a:prstGeom prst="line">
            <a:avLst/>
          </a:prstGeom>
          <a:ln w="18288">
            <a:solidFill>
              <a:srgbClr val="2C63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Isosceles Triangle 123"/>
          <p:cNvSpPr/>
          <p:nvPr/>
        </p:nvSpPr>
        <p:spPr>
          <a:xfrm rot="5400000">
            <a:off x="8567928" y="9108795"/>
            <a:ext cx="64008" cy="70408"/>
          </a:xfrm>
          <a:prstGeom prst="triangle">
            <a:avLst/>
          </a:prstGeom>
          <a:solidFill>
            <a:srgbClr val="2C6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93192" y="9451238"/>
            <a:ext cx="10111449" cy="239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68" b="0">
                <a:solidFill>
                  <a:srgbClr val="526579"/>
                </a:solidFill>
                <a:latin typeface="DejaVu Sans"/>
              </a:rPr>
              <a:t>Each image is the paired unit; the conditional discretized mixture score is defined separately from the 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>Woncheol Jeong</dc:creator>
  <ns0:keywords/>
  <dc:description>generated using python-pptx</dc:description>
  <ns0:lastModifiedBy>Woncheol Jeong</ns0:lastModifiedBy>
  <ns0:revision>1</ns0:revision>
  <ns2:created xsi:type="dcterms:W3CDTF">2026-09-28T00:00:00Z</ns2:created>
  <ns2:modified xsi:type="dcterms:W3CDTF">2026-09-28T00:00:00Z</ns2:modified>
  <ns0:category/>
</ns0:coreProperties>
</file>